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0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 w="12700">
            <a:solidFill>
              <a:srgbClr val="F6F0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3657600" cy="3657600"/>
          </a:xfrm>
          <a:prstGeom prst="arc">
            <a:avLst/>
          </a:prstGeom>
          <a:solidFill>
            <a:srgbClr val="9AD4C6">
              <a:alpha val="65000"/>
            </a:srgbClr>
          </a:solidFill>
          <a:ln w="12700">
            <a:solidFill>
              <a:srgbClr val="9AD4C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120640"/>
            <a:ext cx="3657600" cy="3657600"/>
          </a:xfrm>
          <a:prstGeom prst="arc">
            <a:avLst/>
          </a:prstGeom>
          <a:solidFill>
            <a:srgbClr val="F0AA2E">
              <a:alpha val="45000"/>
            </a:srgbClr>
          </a:solidFill>
          <a:ln w="12700">
            <a:solidFill>
              <a:srgbClr val="F0AA2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21F"/>
          </a:solidFill>
          <a:ln w="12700">
            <a:solidFill>
              <a:srgbClr val="13221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0" y="-1005840"/>
            <a:ext cx="5120640" cy="5120640"/>
          </a:xfrm>
          <a:prstGeom prst="arc">
            <a:avLst/>
          </a:prstGeom>
          <a:solidFill>
            <a:srgbClr val="216A5E">
              <a:alpha val="92000"/>
            </a:srgbClr>
          </a:solidFill>
          <a:ln w="12700">
            <a:solidFill>
              <a:srgbClr val="216A5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6400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D4C6"/>
                </a:solidFill>
              </a:rPr>
              <a:t>CASE TOOL / SOFTWARE PROJECT ESTIMATION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097280"/>
            <a:ext cx="6766560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estimation guesswork to evidence-based project planning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2880360"/>
            <a:ext cx="621792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DE2CC"/>
                </a:solidFill>
              </a:rPr>
              <a:t>A full-stack FastAPI + browser workspace for project setup, COCOMO, FPA, hybrid and ML estimation, risk planning, reporting, Jira/Trello imports, notifications, and historical analytics.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9808" y="397764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216A5E">
              <a:alpha val="95000"/>
            </a:srgbClr>
          </a:solidFill>
          <a:ln w="12700">
            <a:solidFill>
              <a:srgbClr val="216A5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4050792"/>
            <a:ext cx="133502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62 historical records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87168" y="3977640"/>
            <a:ext cx="1481328" cy="347472"/>
          </a:xfrm>
          <a:prstGeom prst="roundRect">
            <a:avLst>
              <a:gd name="adj" fmla="val 21053"/>
            </a:avLst>
          </a:prstGeom>
          <a:solidFill>
            <a:srgbClr val="D68F0D">
              <a:alpha val="95000"/>
            </a:srgbClr>
          </a:solidFill>
          <a:ln w="12700">
            <a:solidFill>
              <a:srgbClr val="D68F0D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96896" y="4050792"/>
            <a:ext cx="126187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ML-ready analytics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60520" y="3977640"/>
            <a:ext cx="1536192" cy="347472"/>
          </a:xfrm>
          <a:prstGeom prst="roundRect">
            <a:avLst>
              <a:gd name="adj" fmla="val 21053"/>
            </a:avLst>
          </a:prstGeom>
          <a:solidFill>
            <a:srgbClr val="C95F31">
              <a:alpha val="95000"/>
            </a:srgbClr>
          </a:solidFill>
          <a:ln w="12700">
            <a:solidFill>
              <a:srgbClr val="C95F31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70248" y="4050792"/>
            <a:ext cx="1316736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PDF / Excel reports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9808" y="6199632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CBA7"/>
                </a:solidFill>
              </a:rPr>
              <a:t>Milestone Review Deck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0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 w="12700">
            <a:solidFill>
              <a:srgbClr val="F6F0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3657600" cy="3657600"/>
          </a:xfrm>
          <a:prstGeom prst="arc">
            <a:avLst/>
          </a:prstGeom>
          <a:solidFill>
            <a:srgbClr val="9AD4C6">
              <a:alpha val="65000"/>
            </a:srgbClr>
          </a:solidFill>
          <a:ln w="12700">
            <a:solidFill>
              <a:srgbClr val="9AD4C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120640"/>
            <a:ext cx="3657600" cy="3657600"/>
          </a:xfrm>
          <a:prstGeom prst="arc">
            <a:avLst/>
          </a:prstGeom>
          <a:solidFill>
            <a:srgbClr val="F0AA2E">
              <a:alpha val="45000"/>
            </a:srgbClr>
          </a:solidFill>
          <a:ln w="12700">
            <a:solidFill>
              <a:srgbClr val="F0AA2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6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AND BUSINESS LOGIC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estimation systems matter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65754"/>
                </a:solidFill>
              </a:rPr>
              <a:t>Most software failures start before coding: the team commits to scope, cost, and dates without enough evidence.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" y="21488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C6A3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48840"/>
            <a:ext cx="54864" cy="1234440"/>
          </a:xfrm>
          <a:prstGeom prst="rect">
            <a:avLst/>
          </a:prstGeom>
          <a:solidFill>
            <a:srgbClr val="C95F31"/>
          </a:solidFill>
          <a:ln w="12700">
            <a:solidFill>
              <a:srgbClr val="C95F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295144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F"/>
                </a:solidFill>
              </a:rPr>
              <a:t>Estimation fails when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24328"/>
            <a:ext cx="3163824" cy="6309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65754"/>
                </a:solidFill>
              </a:rPr>
              <a:t>Requirements change late, historical productivity is ignored, risks are not converted into contingency, and teams confuse effort hours with calendar duration.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407408" y="2148840"/>
            <a:ext cx="347472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C6A3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07408" y="2148840"/>
            <a:ext cx="54864" cy="1234440"/>
          </a:xfrm>
          <a:prstGeom prst="rect">
            <a:avLst/>
          </a:prstGeom>
          <a:solidFill>
            <a:srgbClr val="216A5E"/>
          </a:solidFill>
          <a:ln w="12700">
            <a:solidFill>
              <a:srgbClr val="216A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295144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F"/>
                </a:solidFill>
              </a:rPr>
              <a:t>Historical data matters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2624328"/>
            <a:ext cx="3163824" cy="6309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65754"/>
                </a:solidFill>
              </a:rPr>
              <a:t>Completed projects create a memory for the organization. The system compares estimated vs actual effort, duration, cost, productivity, and defects.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156448" y="214884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C6A3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6448" y="2148840"/>
            <a:ext cx="54864" cy="1234440"/>
          </a:xfrm>
          <a:prstGeom prst="rect">
            <a:avLst/>
          </a:prstGeom>
          <a:solidFill>
            <a:srgbClr val="D68F0D"/>
          </a:solidFill>
          <a:ln w="12700">
            <a:solidFill>
              <a:srgbClr val="D68F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295144"/>
            <a:ext cx="3044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F"/>
                </a:solidFill>
              </a:rPr>
              <a:t>Project managers need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0" y="2624328"/>
            <a:ext cx="3026664" cy="6309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65754"/>
                </a:solidFill>
              </a:rPr>
              <a:t>A repeatable workflow: define scope, estimate with multiple methods, track risk/resources, review scenarios, report, and learn from actuals.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822960" y="4572000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1F"/>
                </a:solidFill>
              </a:rPr>
              <a:t>Business outcome: better budget approval, better staffing decisions, clearer supervisor/stakeholder explanation, and a measurable improvement loop.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756F"/>
                </a:solidFill>
              </a:rPr>
              <a:t>CASE Tool Milestone Review  |  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0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 w="12700">
            <a:solidFill>
              <a:srgbClr val="F6F0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3657600" cy="3657600"/>
          </a:xfrm>
          <a:prstGeom prst="arc">
            <a:avLst/>
          </a:prstGeom>
          <a:solidFill>
            <a:srgbClr val="9AD4C6">
              <a:alpha val="65000"/>
            </a:srgbClr>
          </a:solidFill>
          <a:ln w="12700">
            <a:solidFill>
              <a:srgbClr val="9AD4C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120640"/>
            <a:ext cx="3657600" cy="3657600"/>
          </a:xfrm>
          <a:prstGeom prst="arc">
            <a:avLst/>
          </a:prstGeom>
          <a:solidFill>
            <a:srgbClr val="F0AA2E">
              <a:alpha val="45000"/>
            </a:srgbClr>
          </a:solidFill>
          <a:ln w="12700">
            <a:solidFill>
              <a:srgbClr val="F0AA2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6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system is connected end to end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65754"/>
                </a:solidFill>
              </a:rPr>
              <a:t>The frontend is a static SPA. The backend is a FastAPI API. SQLite stores local/demo data and can be moved to PostgreSQL.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EDE2CC"/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834640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A5E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" y="309067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3221F"/>
                </a:solidFill>
              </a:rPr>
              <a:t>Browser loads index.html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2002536" y="2999232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6A5E"/>
                </a:solidFill>
              </a:rPr>
              <a:t>&gt;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67712" y="27432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0864" y="2834640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A5E"/>
                </a:solidFill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309067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3221F"/>
                </a:solidFill>
              </a:rPr>
              <a:t>app.js starts CaseToolApp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3630168" y="2999232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6A5E"/>
                </a:solidFill>
              </a:rPr>
              <a:t>&gt;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95344" y="27432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EDE2CC"/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68496" y="2834640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A5E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05072" y="309067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3221F"/>
                </a:solidFill>
              </a:rPr>
              <a:t>api-client attaches JWT token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5257800" y="2999232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6A5E"/>
                </a:solidFill>
              </a:rPr>
              <a:t>&gt;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522976" y="27432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2834640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A5E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32704" y="309067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3221F"/>
                </a:solidFill>
              </a:rPr>
              <a:t>FastAPI validates request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6885432" y="2999232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6A5E"/>
                </a:solidFill>
              </a:rPr>
              <a:t>&gt;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50608" y="27432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EDE2CC"/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2834640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A5E"/>
                </a:solidFill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60336" y="309067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3221F"/>
                </a:solidFill>
              </a:rPr>
              <a:t>SQLAlchemy reads/writes tables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8513064" y="2999232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6A5E"/>
                </a:solidFill>
              </a:rPr>
              <a:t>&gt;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778240" y="27432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51392" y="2834640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A5E"/>
                </a:solidFill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887968" y="309067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3221F"/>
                </a:solidFill>
              </a:rPr>
              <a:t>Services calculate estimates, ML, reports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10140696" y="2999232"/>
            <a:ext cx="16459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6A5E"/>
                </a:solidFill>
              </a:rPr>
              <a:t>&gt;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405872" y="2743200"/>
            <a:ext cx="1298448" cy="822960"/>
          </a:xfrm>
          <a:prstGeom prst="roundRect">
            <a:avLst>
              <a:gd name="adj" fmla="val 6667"/>
            </a:avLst>
          </a:prstGeom>
          <a:solidFill>
            <a:srgbClr val="EDE2CC"/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479024" y="2834640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6A5E"/>
                </a:solidFill>
              </a:rPr>
              <a:t>7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515600" y="3090672"/>
            <a:ext cx="1078992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13221F"/>
                </a:solidFill>
              </a:rPr>
              <a:t>Dashboard renders live analytics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777240" y="457200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C6A3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7240" y="4572000"/>
            <a:ext cx="54864" cy="914400"/>
          </a:xfrm>
          <a:prstGeom prst="rect">
            <a:avLst/>
          </a:prstGeom>
          <a:solidFill>
            <a:srgbClr val="216A5E"/>
          </a:solidFill>
          <a:ln w="12700">
            <a:solidFill>
              <a:srgbClr val="216A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41832" y="4718304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F"/>
                </a:solidFill>
              </a:rPr>
              <a:t>Core backend modules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41832" y="5047488"/>
            <a:ext cx="316382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65754"/>
                </a:solidFill>
              </a:rPr>
              <a:t>auth, users, projects, estimates, dashboard, reports, notifications, integrations, scenarios/risks/resources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4434840" y="457200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C6A3">
                <a:alpha val="8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434840" y="4572000"/>
            <a:ext cx="54864" cy="914400"/>
          </a:xfrm>
          <a:prstGeom prst="rect">
            <a:avLst/>
          </a:prstGeom>
          <a:solidFill>
            <a:srgbClr val="D68F0D"/>
          </a:solidFill>
          <a:ln w="12700">
            <a:solidFill>
              <a:srgbClr val="D68F0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99432" y="4718304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F"/>
                </a:solidFill>
              </a:rPr>
              <a:t>Core frontend modules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99432" y="5047488"/>
            <a:ext cx="316382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65754"/>
                </a:solidFill>
              </a:rPr>
              <a:t>api-client.js handles HTTP/tokens; ui-manager.js renders forms, charts, tooltips, i18n, reports, integrations, alerts</a:t>
            </a:r>
            <a:endParaRPr lang="en-US" sz="930" dirty="0"/>
          </a:p>
        </p:txBody>
      </p:sp>
      <p:sp>
        <p:nvSpPr>
          <p:cNvPr id="43" name="Shape 41"/>
          <p:cNvSpPr/>
          <p:nvPr/>
        </p:nvSpPr>
        <p:spPr>
          <a:xfrm>
            <a:off x="8092440" y="457200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C6A3">
                <a:alpha val="8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92440" y="4572000"/>
            <a:ext cx="54864" cy="914400"/>
          </a:xfrm>
          <a:prstGeom prst="rect">
            <a:avLst/>
          </a:prstGeom>
          <a:solidFill>
            <a:srgbClr val="C95F31"/>
          </a:solidFill>
          <a:ln w="12700">
            <a:solidFill>
              <a:srgbClr val="C95F3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257032" y="4718304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F"/>
                </a:solidFill>
              </a:rPr>
              <a:t>Core database entities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57032" y="5047488"/>
            <a:ext cx="3163824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65754"/>
                </a:solidFill>
              </a:rPr>
              <a:t>projects, versions, estimates, historical_projects, function_points, risks, scenarios, resources, reports, ml_models</a:t>
            </a:r>
            <a:endParaRPr lang="en-US" sz="930" dirty="0"/>
          </a:p>
        </p:txBody>
      </p:sp>
      <p:sp>
        <p:nvSpPr>
          <p:cNvPr id="47" name="Text 45"/>
          <p:cNvSpPr/>
          <p:nvPr/>
        </p:nvSpPr>
        <p:spPr>
          <a:xfrm>
            <a:off x="640080" y="64465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756F"/>
                </a:solidFill>
              </a:rPr>
              <a:t>CASE Tool Milestone Review  |  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0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 w="12700">
            <a:solidFill>
              <a:srgbClr val="F6F0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3657600" cy="3657600"/>
          </a:xfrm>
          <a:prstGeom prst="arc">
            <a:avLst/>
          </a:prstGeom>
          <a:solidFill>
            <a:srgbClr val="9AD4C6">
              <a:alpha val="65000"/>
            </a:srgbClr>
          </a:solidFill>
          <a:ln w="12700">
            <a:solidFill>
              <a:srgbClr val="9AD4C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120640"/>
            <a:ext cx="3657600" cy="3657600"/>
          </a:xfrm>
          <a:prstGeom prst="arc">
            <a:avLst/>
          </a:prstGeom>
          <a:solidFill>
            <a:srgbClr val="F0AA2E">
              <a:alpha val="45000"/>
            </a:srgbClr>
          </a:solidFill>
          <a:ln w="12700">
            <a:solidFill>
              <a:srgbClr val="F0AA2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6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ESTIMATION ENGINE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estimation methods support different planning situations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65754"/>
                </a:solidFill>
              </a:rPr>
              <a:t>The system exposes calculation endpoints and stores results for comparison, reporting, and future accuracy analysis.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C6A3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920240"/>
            <a:ext cx="54864" cy="1280160"/>
          </a:xfrm>
          <a:prstGeom prst="rect">
            <a:avLst/>
          </a:prstGeom>
          <a:solidFill>
            <a:srgbClr val="216A5E"/>
          </a:solidFill>
          <a:ln w="12700">
            <a:solidFill>
              <a:srgbClr val="216A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0665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F"/>
                </a:solidFill>
              </a:rPr>
              <a:t>COCOMO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2395728"/>
            <a:ext cx="2340864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65754"/>
                </a:solidFill>
              </a:rPr>
              <a:t>Formula: Effort = a x KLOC^b x multipliers. Best when approximate code/module size is known.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520440" y="19202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C6A3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20440" y="1920240"/>
            <a:ext cx="54864" cy="1280160"/>
          </a:xfrm>
          <a:prstGeom prst="rect">
            <a:avLst/>
          </a:prstGeom>
          <a:solidFill>
            <a:srgbClr val="D68F0D"/>
          </a:solidFill>
          <a:ln w="12700">
            <a:solidFill>
              <a:srgbClr val="D68F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20665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F"/>
                </a:solidFill>
              </a:rPr>
              <a:t>Function Point Analysis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85032" y="2395728"/>
            <a:ext cx="2340864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65754"/>
                </a:solidFill>
              </a:rPr>
              <a:t>Counts ILF, EIF, EI, EO, EQ. Best when user-visible requirements are known before code size.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400800" y="192024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C6A3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920240"/>
            <a:ext cx="54864" cy="1280160"/>
          </a:xfrm>
          <a:prstGeom prst="rect">
            <a:avLst/>
          </a:prstGeom>
          <a:solidFill>
            <a:srgbClr val="C95F31"/>
          </a:solidFill>
          <a:ln w="12700">
            <a:solidFill>
              <a:srgbClr val="C95F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20665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F"/>
                </a:solidFill>
              </a:rPr>
              <a:t>Hybrid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65392" y="2395728"/>
            <a:ext cx="2340864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65754"/>
                </a:solidFill>
              </a:rPr>
              <a:t>Weighted blend of COCOMO, FPA, and optional ML, adjusted by risk and requirement volatility.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9281160" y="1920240"/>
            <a:ext cx="2267712" cy="1280160"/>
          </a:xfrm>
          <a:prstGeom prst="roundRect">
            <a:avLst>
              <a:gd name="adj" fmla="val 5714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C6A3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81160" y="1920240"/>
            <a:ext cx="54864" cy="1280160"/>
          </a:xfrm>
          <a:prstGeom prst="rect">
            <a:avLst/>
          </a:prstGeom>
          <a:solidFill>
            <a:srgbClr val="13221F"/>
          </a:solidFill>
          <a:ln w="12700">
            <a:solidFill>
              <a:srgbClr val="13221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45752" y="2066544"/>
            <a:ext cx="19751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F"/>
                </a:solidFill>
              </a:rPr>
              <a:t>ML prediction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45752" y="2395728"/>
            <a:ext cx="1956816" cy="6766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65754"/>
                </a:solidFill>
              </a:rPr>
              <a:t>Random forest regression trains on historical projects to predict effort, duration, cost, confidence, and feature importance.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914400" y="470916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21F"/>
                </a:solidFill>
              </a:rPr>
              <a:t>Evidence loop: estimate -&gt; deliver -&gt; record actuals -&gt; train/compare -&gt; improve future estimates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756F"/>
                </a:solidFill>
              </a:rPr>
              <a:t>CASE Tool Milestone Review  |  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0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 w="12700">
            <a:solidFill>
              <a:srgbClr val="F6F0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3657600" cy="3657600"/>
          </a:xfrm>
          <a:prstGeom prst="arc">
            <a:avLst/>
          </a:prstGeom>
          <a:solidFill>
            <a:srgbClr val="9AD4C6">
              <a:alpha val="65000"/>
            </a:srgbClr>
          </a:solidFill>
          <a:ln w="12700">
            <a:solidFill>
              <a:srgbClr val="9AD4C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120640"/>
            <a:ext cx="3657600" cy="3657600"/>
          </a:xfrm>
          <a:prstGeom prst="arc">
            <a:avLst/>
          </a:prstGeom>
          <a:solidFill>
            <a:srgbClr val="F0AA2E">
              <a:alpha val="45000"/>
            </a:srgbClr>
          </a:solidFill>
          <a:ln w="12700">
            <a:solidFill>
              <a:srgbClr val="F0AA2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6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WORKSPACE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now functional in the application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65754"/>
                </a:solidFill>
              </a:rPr>
              <a:t>The frontend and backend are connected across project management, estimation, analytics, reporting, alerts, and integrations.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1920240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039112"/>
            <a:ext cx="4389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21F"/>
                </a:solidFill>
              </a:rPr>
              <a:t>Dashboard cards and analytic bars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920240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039112"/>
            <a:ext cx="4389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21F"/>
                </a:solidFill>
              </a:rPr>
              <a:t>50+ seeded historical records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633472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752344"/>
            <a:ext cx="4389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21F"/>
                </a:solidFill>
              </a:rPr>
              <a:t>Field-level help tooltips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63640" y="2633472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2752344"/>
            <a:ext cx="4389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21F"/>
                </a:solidFill>
              </a:rPr>
              <a:t>English/Urdu navigation support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3346704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465576"/>
            <a:ext cx="4389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21F"/>
                </a:solidFill>
              </a:rPr>
              <a:t>PDF and Excel exports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3346704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465576"/>
            <a:ext cx="4389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21F"/>
                </a:solidFill>
              </a:rPr>
              <a:t>Risk/resource/scenario planning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4059936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178808"/>
            <a:ext cx="4389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21F"/>
                </a:solidFill>
              </a:rPr>
              <a:t>In-app notifications and SMTP-ready email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63640" y="4059936"/>
            <a:ext cx="4800600" cy="438912"/>
          </a:xfrm>
          <a:prstGeom prst="roundRect">
            <a:avLst>
              <a:gd name="adj" fmla="val 16667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8C6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4178808"/>
            <a:ext cx="43891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3221F"/>
                </a:solidFill>
              </a:rPr>
              <a:t>Jira/Trello real API sync flow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5486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6A5E"/>
                </a:solidFill>
              </a:rPr>
              <a:t>No fake Jira/Trello data: external syncs return clear configuration errors until real credentials are supplied.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64465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756F"/>
                </a:solidFill>
              </a:rPr>
              <a:t>CASE Tool Milestone Review  |  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0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0E3"/>
          </a:solidFill>
          <a:ln w="12700">
            <a:solidFill>
              <a:srgbClr val="F6F0E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05840" y="-1097280"/>
            <a:ext cx="3657600" cy="3657600"/>
          </a:xfrm>
          <a:prstGeom prst="arc">
            <a:avLst/>
          </a:prstGeom>
          <a:solidFill>
            <a:srgbClr val="9AD4C6">
              <a:alpha val="65000"/>
            </a:srgbClr>
          </a:solidFill>
          <a:ln w="12700">
            <a:solidFill>
              <a:srgbClr val="9AD4C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5120640"/>
            <a:ext cx="3657600" cy="3657600"/>
          </a:xfrm>
          <a:prstGeom prst="arc">
            <a:avLst/>
          </a:prstGeom>
          <a:solidFill>
            <a:srgbClr val="F0AA2E">
              <a:alpha val="45000"/>
            </a:srgbClr>
          </a:solidFill>
          <a:ln w="12700">
            <a:solidFill>
              <a:srgbClr val="F0AA2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411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6A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PROGRESS AND FUTURE SCOPE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49808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322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for academic demonstration, with a clear production path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40080" y="1700784"/>
            <a:ext cx="6492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65754"/>
                </a:solidFill>
              </a:rPr>
              <a:t>The system is now explainable from business logic to database flow, and the remaining improvements are production hardening rather than missing core functionality.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C6A3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965960"/>
            <a:ext cx="54864" cy="1417320"/>
          </a:xfrm>
          <a:prstGeom prst="rect">
            <a:avLst/>
          </a:prstGeom>
          <a:solidFill>
            <a:srgbClr val="216A5E"/>
          </a:solidFill>
          <a:ln w="12700">
            <a:solidFill>
              <a:srgbClr val="216A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112264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F"/>
                </a:solidFill>
              </a:rPr>
              <a:t>Current progress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96112" y="2441448"/>
            <a:ext cx="3209544" cy="813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65754"/>
                </a:solidFill>
              </a:rPr>
              <a:t>Login fixed, 422 route issue resolved, seed portfolio loaded, backend APIs verified, dashboard analytics connected, reports downloadable, help/i18n/integrations added.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389120" y="19659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C6A3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965960"/>
            <a:ext cx="54864" cy="1417320"/>
          </a:xfrm>
          <a:prstGeom prst="rect">
            <a:avLst/>
          </a:prstGeom>
          <a:solidFill>
            <a:srgbClr val="D68F0D"/>
          </a:solidFill>
          <a:ln w="12700">
            <a:solidFill>
              <a:srgbClr val="D68F0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3712" y="2112264"/>
            <a:ext cx="32278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F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53712" y="2441448"/>
            <a:ext cx="3209544" cy="813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65754"/>
                </a:solidFill>
              </a:rPr>
              <a:t>Add Alembic migrations, background job queue, persisted ML artifacts, full Urdu translation coverage, OAuth integrations, and granular permission checks.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D8C6A3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1965960"/>
            <a:ext cx="54864" cy="1417320"/>
          </a:xfrm>
          <a:prstGeom prst="rect">
            <a:avLst/>
          </a:prstGeom>
          <a:solidFill>
            <a:srgbClr val="C95F31"/>
          </a:solidFill>
          <a:ln w="12700">
            <a:solidFill>
              <a:srgbClr val="C95F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1312" y="2112264"/>
            <a:ext cx="30449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21F"/>
                </a:solidFill>
              </a:rPr>
              <a:t>Expected impact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11312" y="2441448"/>
            <a:ext cx="3026664" cy="8138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365754"/>
                </a:solidFill>
              </a:rPr>
              <a:t>Project managers can justify estimates, supervisors can inspect formulas and workflow, and future estimates improve as actual project outcomes accumulate.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221F"/>
                </a:solidFill>
              </a:rPr>
              <a:t>Presentation message: this is not just a CRUD app; it is a decision-support system for software project planning.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2926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D756F"/>
                </a:solidFill>
              </a:rPr>
              <a:t>CASE Tool Milestone Review  |  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Academic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Tool Milestone Review</dc:title>
  <dc:subject>Software Project Estimation System</dc:subject>
  <dc:creator>CASE Tool</dc:creator>
  <cp:lastModifiedBy>CASE Tool</cp:lastModifiedBy>
  <cp:revision>1</cp:revision>
  <dcterms:created xsi:type="dcterms:W3CDTF">2026-05-10T10:54:49Z</dcterms:created>
  <dcterms:modified xsi:type="dcterms:W3CDTF">2026-05-10T10:54:49Z</dcterms:modified>
</cp:coreProperties>
</file>